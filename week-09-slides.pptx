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9 — Building LLM Systems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Servers and A2A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C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 394 — Software Projects · DePaul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"why a protocol?" to "ship one for your capstone."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LLM tooling needs protocols — the M × N problem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concepts: roles, primitives, lifecycle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Implementing an MCP server (how-to + best practices)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in Claude Code, Copilot, ChatGPT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Apps — when tools need a UI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A2A concepts, implementation, best practices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vs. A2A — how they stack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Demo: connect a working MCP server to Copilot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 × N Integration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host re-implements every connector. Every backend re-implements every host plugin.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problem these protocols solved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— for browsers and web servers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LSP — for editors and language tools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ODBC / JDBC — for apps and databases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— for LLM apps and their tools/data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A2A — for agents collaborating across stacks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Complementary Protocols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solve different halves of the problem. Real systems use both.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54680"/>
                <a:gridCol w="31546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MCP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A2A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Announced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Anthropic, Nov 2024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Google, Apr 2025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Connects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LLM app ↔ tools &amp; data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↔ agent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Granularity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tool = 1 function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Coarse skills, multi-turn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Caller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inside a host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Another agent (client)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 — MCP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Context Protocol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MCP: The Three Roles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Confusing MCP threads always trace back to mixing these up.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54680"/>
                <a:gridCol w="31546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is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LLM app the user sees. Owns the model + trust.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Claude Desktop, VS Code Copilot, ChatGPT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Connector inside the host. 1:1 with a server.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piece of Claude that talks to GitHub MCP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Process exposing tools / resources / prompts.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code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never speaks MCP — the host translates.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Five Primitives (+ Roots)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Servers offer any subset. None are mandatory.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54680"/>
                <a:gridCol w="31546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Primitive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invokes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Tools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(with host approval)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 things; may have side effects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Resources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 / user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Provide readable context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Prompts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Reusable templates (slash commands)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Sampling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Server → host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Server asks host's LLM to generate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Elicitation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Server → user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Server asks user for structured input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Roots: host tells server which URI scopes it may touch. Tools/resources/prompts are server primitives; sampling/elicitation are client capabilities.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Transport and Wire Format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JSON-RPC 2.0 with two standardized transports.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 — sometimes both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stdio — host spawns server as a subprocess. Local tools. Implicit auth (runs as the user).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Streamable HTTP — JSON-RPC over HTTPS to a single endpoint, with SSE for streaming. Remote. Auth via OAuth 2.1.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Older two-endpoint "HTTP + SSE" transport exists in early specs — new servers should target Streamable HTTP.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Session Lifecycle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server follows the same shape.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phases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— exchange protocol version + capabilities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— tools/list, resources/list, prompts/list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Invoke — tools/call, resources/read, prompts/get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 — change notifications, progress updates, cancellations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Shutdown — clean close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Implementing an MCP Server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first. Code second.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0: Design Before You 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 one-page server design that answers five questions.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design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the user? Developer in an IDE? End user in chat?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system are you wrapping? One bounded context per server.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primitives? Tools (do), Resources (attach), Prompts (templates).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or remote? stdio for personal/dev; HTTP for SaaS.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trust boundary? Auth, scopes, destructive ops, secrets.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an SDK — Same Pattern Everywhere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SDKs: TypeScript, Python, Go, C#/.NET, Java, Kotlin, Swift, Ruby, Rust.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194560"/>
          </a:xfrm>
          <a:prstGeom prst="roundRect">
            <a:avLst>
              <a:gd name="adj" fmla="val 208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server = new McpServer({ name: "weather", version: "1.0.0" 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server.tool(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"get_forecast",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city: z.string(), days: z.number().int().min(1).max(7)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({ city, days }) =&gt; fetchForecast(city, days)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server.connect(new StdioServerTransport());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is the entire server for a small case. The SDK handles JSON-RPC, schema advertisement, and streaming.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Designing a Tool — Three Customer Surfaces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Plus: read vs. write, idempotency, output shape, error contract.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Surface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it matters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Name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model reads this to decide whether to call. Verb + noun. Stable forever once published.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Description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model's only documentation. Write it for an LLM: when to call, what it returns, what it doesn't do.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Input schema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JSON Schema. Validates before your code runs. Be strict; reject extras.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Resources vs. Tools vs. Prompts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right primitive for the job.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of thumb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— the model can call it; side effects OK.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— the host can attach it; read-only data with a URI.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— the user triggers it; parameterized template (slash command).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"Let the model search my DB" → tool.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"Let the user pin a table into chat" → resource.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Auth, Secrets, Multi-Tenancy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most MCP servers fail in production.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stdio: inherit user env. Read keys from env vars or OS keychain.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 OAuth 2.1 is the recommended path. Validate bearer tokens, check the audience, use PKCE.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HTTP: validate Origin and bind to loopback — defends against DNS rebinding.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accept secrets as tool arguments — they'd land in chat logs.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tenant from the token, never from arguments. The model can be tricked.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Versioning Your Server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schemas are a public API. Users and host configs pin to names.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OK without major bump?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 a new tool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 — free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 an optional parameter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 — free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 a required parameter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— major bump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Rename or remove a tool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— major bump + deprecation period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 for MCP Servers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good operators log and measure.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every call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name, caller identity, request 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Duration, success / error code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size (not necessarily content — PII!)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Whether the call was a retry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14884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as metrics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697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/ p95 / p99 latency per tool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rate per tool, per host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Bytes / tokens returned (host's cost driver)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Concurrent sessions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Best Practices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Lessons people learn the hard way.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Design Best Practices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quality drives model behavior more than any prompt you write.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guidelines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Fewer, sharper tools beat many overlapping ones.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Self-documenting names: cancel_subscription_with_refund beats cancel(flag=true).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to read-only; add writes only with a clear confirmation UX.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just enough data — paginate big lists.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structured output — JSON the model can index into.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tool descriptions as product surface, not afterthoughts.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Best Practices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a confused deputy. Treat tool arguments as untrusted input.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rules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path traversal, SQL concat, or shell exec inside a tool.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destructive tools clearly — hosts will gate them with confirmation prompts.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Honor roots when the host provides them. Refuse paths outside.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echo secrets back. Redact in resources.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 network access where it makes sense.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and Reliability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Long, blocking tool calls are the #1 source of bad LLM UX.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progress notifications and server-streamed messages for long work.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assume token-level streaming of tool results works across all hosts.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cancellation so users can stop runaway calls.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timeouts — per call and per session.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resource reads where appropriate.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Your Server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before you wire into a real host — or you'll debug in chat.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layers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Inspector — official click-every-tool debugger.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tests — (input → expected output) pairs per tool, in CI.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tests — confirm bad input is rejected.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integration smoke test — at minimum in one real host before each release.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Documentation Has Two Audiences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to both. Neither is optional.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LLM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descriptions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 docs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in the description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 model has never seen your product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14884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humans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697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with install steps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config snippet (at least one host)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scopes and secrets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Versioning + deprecation policy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in Claude Code, Copilot, ChatGPT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protocol. Three different host stories.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Claude Desktop and Claude 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widely-deployed MCP hosts.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Host-side specifics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Config: claude_desktop_config.json (desktop) or per-project .mcp.json (Claude Code).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Transports: stdio first-class; remote Streamable HTTP with OAuth supported.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Scopes (Claude Code): user / project / local — controls who sees the server.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UX: tools → model-callable; resources → attachment menu; prompts → slash commands.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Destructive tools prompt the user before running.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Copilot (VS Code, JetBrains, CLI)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is how Copilot agent mode reaches outside the IDE.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Host-side specifics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Config: workspace or user mcp.json; curated registry with one-click installs.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Transports: stdio and Streamable HTTP — host brokers OAuth flows.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show up in agent mode; user can toggle individual tools per chat.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Workspace-trust gating + per-tool confirmation prompts for non-allowlisted tools.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coding agent and Copilot CLI can reuse MCP server configurations, but supported transports and capabilities differ per surface.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ChatGPT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via "connectors" — remote only.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Host-side specifics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the connector against a remote MCP server URL with OAuth.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Streamable HTTP only — no stdio in a hosted product.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Surfaces as connectors users enable per conversation and as Deep Research data sources.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Implication: ChatGPT-compatible servers must be publicly hosted + OAuth-capable.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Portability Promise — and Caveats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server, three hosts — in theory.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portability gets messy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is the hardest portability problem — each host's OAuth conventions differ.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UX varies — confirmation, streaming, and resource rendering all host-specific.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support varies — sampling and elicitation are not universal.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for the lowest-common-denominator host you care about, then progressively enhance.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Use Cases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LLM ↔ X integration is a candidate for an MCP server.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Developer tooling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git, GitHub, filesystem, language servers, build runners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access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Postgres, Snowflake, BigQuery, S3, vector DBs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SaaS connectors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Jira, Linear, Slack, Notion, Salesforce, Zendesk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Browser &amp; web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Playwright, fetchers, search APIs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 platforms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deploy systems, feature flags, observability stacks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Personal automation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calendar, email, smart home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Interlude — MCP Apps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tools need a UI.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Are MCP Apps?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servers can ship interactive UI — not just text and JSON.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threads of the same story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 Apps (Apps SDK) — Oct 2025, first widely-shipped implementation. Built on MCP.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UI / "Apps" — community standardization of the same pattern across hosts.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still drives the conversation. The component is what the user sees and clicks.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support is moving fast — assume the matrix has changed; verify before relying on it.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an MCP App Is Wired 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all of MCP. Add three things.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additions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UI resource — HTML at ui://component/... with MIME type text/html;profile=mcp-app.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that references it — _meta.ui.resourceUri on the tool result. (ChatGPT also accepts the legacy alias _meta['openai/outputTemplate'].)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host ↔ component bridge — sandboxed iframe gets a ui/* JSON-RPC API (and window.openai in ChatGPT) to read structured content, call tools, request follow-up turns, persist state.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Designing MCP Apps Well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discipline as good MCP tools, plus front-end realities.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guidelines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right surface — add UI when output (chart, map) or input (form, picker, confirmation) is clunky as text.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Degrade gracefully — always return useful structuredContent too, so non-Apps hosts still get a sensible answer.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client — no business logic in the iframe. Call back to MCP tools for data and writes.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 the network boundary — outbound calls governed by CSP and declared domains.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your UI URIs — cache-bust on each release (hosts cache aggressively).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Apps vs. Plain Tools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right tool for the job.</a:t>
            </a:r>
            <a:endParaRPr lang="en-US" sz="15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54680"/>
                <a:gridCol w="31546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Plain tool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MCP App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 has to do something (approve, pick, filter)?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Awkward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Natural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can chain the output to the next tool?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 — via structuredContent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Portable across all MCP hosts?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Only on Apps-rendering hosts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Right for charts / maps / forms / dashboards?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of thumb: data the model reasons over → plain tool. Something the user sees or interacts with → MCP App.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Apps Trade-offs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honest about the cost.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honest caveats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Portability is uneven today — host support is moving fast; verify current support.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You're now also a front-end engineer — components need design, accessibility, CSP, dependency hygiene.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and tenancy still live on the server — the model and the component are both clients in your trust model.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 — A2A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Agent-to-Agent Protocol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A2A?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connects LLMs to tools. A2A connects agents to other agents.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scenario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run a travel agent (LangChain), an expense agent (Copilot Studio), a calendar agent (vendor).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want a fourth, executive-assistant agent, to coordinate all three.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protocol → three custom integrations.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A2A → each advertises an Agent Card; any client can discover and delegate.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Introduced by Google (Apr 2025). Governed by the Linux Foundation since mid-2025.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A2A Is Opaque About Internals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what makes cross-vendor delegation safe.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calling agent never sees the called agent's: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choice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tools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only sees the contract: skills, inputs, outputs, lifecycle.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A2A Core Concepts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Memorize the vocabulary. Every A2A discussion uses it.</a:t>
            </a:r>
            <a:endParaRPr lang="en-US" sz="15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Concept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Card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JSON at /.well-known/agent-card.json. The "menu" other agents read.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Skill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Named capability — coarse-grained, often multi-turn.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Task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 of work. Lifecycle: submitted → working → input-required → completed / failed / canceled. Also: auth-required, rejected.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Message / Part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turn; carries text, file, or structured data parts.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Artifact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Durable output of a task (PDF, patch, dataset).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Push notification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 webhook for async progress updates.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A2A Transport — Multiple Bindings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Transport-agnostic by design. Pick a binding.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Bindings + extras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JSON-RPC 2.0 over HTTP(S)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gRPC binding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HTTP+JSON / REST binding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Server-Sent Events layered for streaming responses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Webhooks for push notifications on long-running tasks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Auth: whatever HTTP supports (OAuth, API keys, mTLS) — declared in the Agent Card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A2A Collaboration Lifecycle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phases from discovery to artifact.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— fetch the Agent Card.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 — per scheme declared in the card.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task — message/send or message/stream.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Iterate — agent may go input-required; client (or its user) responds.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artifacts — durable outputs.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— completed / failed / canceled.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Implementing an A2A Agent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side, then client side.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Side: Expose Your Agent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an existing agent reachable to other agents.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steps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the Agent Card — pick which skills to expose, not every capability.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modes — text? files? structured JSON? streaming?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endpoints for your binding — JSON-RPC message/send, message/stream, tasks/get, tasks/cancel; or REST POST /message:send, GET /tasks/{id}; or gRPC SendMessage, GetTask. Use an SDK.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auth — API keys (internal) or OAuth / JWT (cross-org).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push notifications for long-running tasks.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the card at /.well-known/agent-card.json.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Side: Call Other Agents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your agent capable of delegating.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concerns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a registry of known agents — list, catalog, or discovery service.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and cache Agent Cards. Refresh periodically.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remote agents as a tool type in your planner — often surfaced as an MCP tool.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input-required gracefully — bubble to user or answer from context.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Propagate user identity carefully — OBO tokens when acting on the user's behalf.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Decisions That Matter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these wrong early and they hurt forever.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trade-offs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Coarse vs. fine skills — "plan a trip" (A2A skill), not "look up an airport code" (MCP tool).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 vs. async — long tasks need streaming + push notifications from day one.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boundary — what lives inside the remote agent vs. what the client passes every call.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A2A Best Practices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Trust, hygiene, operations.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Card Hygiene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card is documentation a delegating LLM reads.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skills for an LLM reader — clear, specific, no marketing fluff.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lie. If you can't really do X, don't list X — real requests will get routed to you.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the card. Bump on breaking changes; clients can pin.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and Trust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Prompt-injection now crosses agent boundaries.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rules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 every request — never trust a caller's identity claim alone.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Re-authorize on the user's behalf — check the human can do this, not just that the caller is "trusted".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task correlation IDs — cross-agent debugging is impossible without them.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agent responses as untrusted input — sanitize before feeding back to your model.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Concerns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Multi-tenant agents are SaaS. Treat them that way.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controls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Per-skill quotas and rate limits — a misbehaving caller can DDoS via task creation.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Cancellation must actually cancel — don't keep burning tokens.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cost — return cost metadata in artifacts so callers can budget.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A2A Use Cases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coarse, contract-only delegation pays off.</a:t>
            </a:r>
            <a:endParaRPr lang="en-US" sz="15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case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A2A fits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Vendor-built specialist agents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Collaborate without sharing source or model.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Cross-team agents inside a company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Each team owns its own stack.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Marketplaces of agents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Card = marketplace listing.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Long-running, human-in-the-loop tasks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Native lifecycle for input-required and async.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Multi-modal hand-offs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 an image → vision agent → structured artifact.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vs. A2A at a Glance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problems, same era, designed to coexist.</a:t>
            </a:r>
            <a:endParaRPr lang="en-US" sz="15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54680"/>
                <a:gridCol w="31546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Aspect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MCP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A2A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Connects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LLM app ↔ tools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↔ agent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Granularity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Fine (one function)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Coarse (multi-turn skill)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Caller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inside a host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Another agent client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Mostly stateless per call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Stateful tasks with lifecycles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Discovery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 APIs at session start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Card at well-known URL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Transport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stdio or Streamable HTTP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HTTP with JSON-RPC, REST, or gRPC bindings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is how an agent uses tools. A2A is how an agent uses another agent.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194560"/>
          </a:xfrm>
          <a:prstGeom prst="roundRect">
            <a:avLst>
              <a:gd name="adj" fmla="val 208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User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Host application + LLM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speaks MCP to tools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+--&gt; [ MCP server: filesystem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+--&gt; [ MCP server: postgres 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+--&gt; [ MCP server: "delegate to agent"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  speaks A2A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+--&gt; [ Remote agent: travel  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+--&gt; [ Remote agent: expenses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\__ uses MCP internally for its own tools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common 2025-era architecture: A2A across agents, MCP inside each agent.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Protocol Do I Build?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in this order.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Tool/data source for hosts you don't own? → MCP server.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Self-contained agent for other agents to call? → A2A agent.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the host yourself? → Consume both.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One-shot internal feature for a single LLM app? → Maybe neither yet.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protocols when you need portability, decoupling, or third-party reach.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Design Exercise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a one-page sketch to next class.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 three things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MCP server exposing your app's data + actions to an LLM (3–5 tools, 0–3 resources).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(Optional) One A2A skill other agents could delegate to you.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trust model: who authenticates, what scopes, what is destructive.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DePaul Library MCP + MCP App + A2A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Demo Contains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demo-library-mcp/ in the lectures repo — all three layers, one fake catalog.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6D3C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 (stdio) — 4 tools (search_books, get_student_account, list_overdue, check_out_book) + 4 resources.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App — student dashboard widget at ui://component/student-dashboard.html, referenced by _meta.ui.resourceUri.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A2A agent — Agent Card at /.well-known/agent-card.json, skill build_reading_list over JSON-RPC.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 data layer shared by both servers — same domain, two interfaces.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test + MCP Inspector launcher included.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Connecting the Demo to GitHub Copilot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this in .vscode/mcp.json — reload — Agent mode sees the tools.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863840" cy="2194560"/>
          </a:xfrm>
          <a:prstGeom prst="roundRect">
            <a:avLst>
              <a:gd name="adj" fmla="val 208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"servers":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"depaul-library":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"stdio",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"node",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["${workspaceFolder}/demo-library-mcp/mcp-server.js"]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try: "What's on the featured shelf?" · "Who has overdue books?" · "Check out DDD for S-1003."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9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apps are orchestrators of tools and agents — not monoliths.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7863840" cy="2194560"/>
          </a:xfrm>
          <a:prstGeom prst="roundRect">
            <a:avLst>
              <a:gd name="adj" fmla="val 3333"/>
            </a:avLst>
          </a:prstGeom>
          <a:solidFill>
            <a:srgbClr val="253251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= LLM ↔ tools/data. Small set of well-defined primitives.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A2A = agent ↔ agent. Coarse skills, explicit task lifecycle.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hard parts are auth, safety, and the UX of confirmation.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descriptions and Agent Cards are product surface, not afterthoughts.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 the protocol version — both specs evolved rapidly through 2024–2025.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SDKs. Use the Inspector. Test before shipping.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E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week: putting it all together for your capstone preview.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9 - Building LLM Systems: MCP and A2A</dc:title>
  <dc:subject>Week 9 lecture on MCP servers and A2A</dc:subject>
  <dc:creator>CSC394 Instructor Team</dc:creator>
  <cp:lastModifiedBy>CSC394 Instructor Team</cp:lastModifiedBy>
  <cp:revision>1</cp:revision>
  <dcterms:created xsi:type="dcterms:W3CDTF">2026-05-27T22:10:03Z</dcterms:created>
  <dcterms:modified xsi:type="dcterms:W3CDTF">2026-05-27T22:10:03Z</dcterms:modified>
</cp:coreProperties>
</file>